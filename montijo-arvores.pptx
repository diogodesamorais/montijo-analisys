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5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Montijo, Portugal — Ten Common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Environment, Comfort and Energy Efficiency — tree / local architecture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 i="1">
                <a:solidFill>
                  <a:srgbClr val="FFFFFF"/>
                </a:solidFill>
                <a:latin typeface="Calibri"/>
              </a:defRPr>
            </a:pPr>
            <a:r>
              <a:t>Montijo municipality — Tagus estuary, montado and urban green corridors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1 / 10  —  Montijo municipality</a:t>
            </a:r>
          </a:p>
        </p:txBody>
      </p:sp>
      <p:pic>
        <p:nvPicPr>
          <p:cNvPr id="4" name="Picture 3" descr="img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1. Sobreiro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Quercus suber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Centenary specimen in Canha; 750 planted in Semana Verde; long cork-industry history; protected species.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Cork as natural wall/roof insulation for sun-exposed south-bank housing; evergreen shade for quintas in Canha/Pegoes.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Montado interior (Canha) — n.º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2 / 10  —  Montijo municipality</a:t>
            </a:r>
          </a:p>
        </p:txBody>
      </p:sp>
      <p:pic>
        <p:nvPicPr>
          <p:cNvPr id="4" name="Picture 3" descr="img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2. Pinheiro-manso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Pinus pinea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Listed in the municipal species tables; suited to sandy soils.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Umbrella crown shades pracas and the Parque Municipal; open trunk keeps sightlines and winter sun.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Pinhal interior — n.º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3 / 10  —  Montijo municipality</a:t>
            </a:r>
          </a:p>
        </p:txBody>
      </p:sp>
      <p:pic>
        <p:nvPicPr>
          <p:cNvPr id="4" name="Picture 3" descr="img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3. Pinheiro-bravo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Pinus pinaster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Listed in the municipal species tables; rural stands around the municipality.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Construction timber and formwork; windbreaks buffering estuary winds against low-rise neighbourhoods.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Pinhal interior — n.º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4 / 10  —  Montijo municipality</a:t>
            </a:r>
          </a:p>
        </p:txBody>
      </p:sp>
      <p:pic>
        <p:nvPicPr>
          <p:cNvPr id="4" name="Picture 3" descr="img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4. Azinheira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Quercus rotundifolia (listed as Q. ilex)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Protected species in the regulation; montado misto with sobreiro.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Dense evergreen shade for courtyards and schoolyards; extreme drought tolerance suits low-irrigation planting.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Montado misto — n.º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5 / 10  —  Montijo municipality</a:t>
            </a:r>
          </a:p>
        </p:txBody>
      </p:sp>
      <p:pic>
        <p:nvPicPr>
          <p:cNvPr id="4" name="Picture 3" descr="img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5. Oliveira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Olea europaea var. europaea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Planted by the municipality at Pateo d'Agua 2026; in the species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Small-scale courtyard and patio tree that never threatens foundations or roofs; longevity symbolism for civic 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Páteo d'Água — n.º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6 / 10  —  Montijo municipality</a:t>
            </a:r>
          </a:p>
        </p:txBody>
      </p:sp>
      <p:pic>
        <p:nvPicPr>
          <p:cNvPr id="4" name="Picture 3" descr="img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6. Alfarrobeira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Ceratonia siliqua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Species distributed to residents in Semana Verde 2026 as climate-adapted.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Slow-growing, low-water garden tree for private logradouros; dense evergreen crown cools patios with almost no pruning or irrigation.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Quintais urbanos — n.º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7 / 10  —  Montijo municipality</a:t>
            </a:r>
          </a:p>
        </p:txBody>
      </p:sp>
      <p:pic>
        <p:nvPicPr>
          <p:cNvPr id="4" name="Picture 3" descr="img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7. Tipuana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Tipuana tipu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Street tree with its own pruning window in the regulation (mid-March to end April).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Fast-growing arruamento shade with yellow flowering; needs the crown-lifting the regulation prescribes to clear vehicles and aerial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Arruamentos — n.º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8 / 10  —  Montijo municipality</a:t>
            </a:r>
          </a:p>
        </p:txBody>
      </p:sp>
      <p:pic>
        <p:nvPicPr>
          <p:cNvPr id="4" name="Picture 3" descr="img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8. Jacaranda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Jacaranda mimosifolia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Same dedicated pruning regime - an established Montijo street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Violet spring bloom as seasonal landmark in streets and small largos; light filtered shade suits narrow streets where platano would be oversized.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Arruamentos — n.º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9 / 10  —  Montijo municipality</a:t>
            </a:r>
          </a:p>
        </p:txBody>
      </p:sp>
      <p:pic>
        <p:nvPicPr>
          <p:cNvPr id="4" name="Picture 3" descr="img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9. Platano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Platanus x hispanica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Listed in the municipal species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Large-leaf high-transpiration shade for largos and riverside promenades; evaporative cooling pairs with the Tagus estuary breeze.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Largos — n.º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10 / 10  —  Montijo municipality</a:t>
            </a:r>
          </a:p>
        </p:txBody>
      </p:sp>
      <p:pic>
        <p:nvPicPr>
          <p:cNvPr id="4" name="Picture 3" descr="img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8229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A5A3C"/>
                </a:solidFill>
                <a:latin typeface="Calibri"/>
              </a:defRPr>
            </a:pPr>
            <a:r>
              <a:t>10. Freixo</a:t>
            </a:r>
          </a:p>
          <a:p>
            <a:pPr algn="l"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Fraxinus angustifolia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51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EVIDENCE IN MONTIJO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Listed in the tables; the riparian type of Sitio das Nascentes.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389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5A3C"/>
                </a:solidFill>
                <a:latin typeface="Calibri"/>
              </a:defRPr>
            </a:pPr>
            <a:r>
              <a:t>ARCHITECTURE LINK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Lines the corridor's water courses, stabilising banks; deciduous canopy gives summer shade on paths and winter sun.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3A5A3C"/>
                </a:solidFill>
                <a:latin typeface="Calibri"/>
              </a:defRPr>
            </a:pPr>
            <a:r>
              <a:t>PREDOMINA: Sítio das Nascentes — n.º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3A5A3C"/>
                </a:solidFill>
                <a:latin typeface="Calibri"/>
              </a:defRPr>
            </a:pPr>
            <a:r>
              <a:t>Mapa — concelho: onde predominam</a:t>
            </a:r>
          </a:p>
        </p:txBody>
      </p:sp>
      <p:pic>
        <p:nvPicPr>
          <p:cNvPr id="4" name="Picture 3" descr="montijo-mapa-arv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91" y="1463040"/>
            <a:ext cx="572391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3A5A3C"/>
                </a:solidFill>
                <a:latin typeface="Calibri"/>
              </a:defRPr>
            </a:pPr>
            <a:r>
              <a:t>Mapa — centro de Montijo (zoom)</a:t>
            </a:r>
          </a:p>
        </p:txBody>
      </p:sp>
      <p:pic>
        <p:nvPicPr>
          <p:cNvPr id="4" name="Picture 3" descr="montijo-centro-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608" y="1463040"/>
            <a:ext cx="375047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 i="0">
                <a:solidFill>
                  <a:srgbClr val="3A5A3C"/>
                </a:solidFill>
                <a:latin typeface="Calibri"/>
              </a:defRPr>
            </a:pPr>
            <a:r>
              <a:t>Portuguese sources — Montijo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CM Montijo — Regulamento Municipal de Gestão do Arvoredo (2025): 11,450-tree inventory, protected species, pruning calendar, species tables</a:t>
            </a:r>
          </a:p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https://www.mun-montijo.pt/cmmontijo/uploads/document/file/20462/projeto_de_regulamento_municipal_de_gestao_do_arvoredo.pdf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CM Montijo — Semana Verde 2024 + Diario do Distrito (sobreiro: 750 trees, centenary tree in Canha)</a:t>
            </a:r>
          </a:p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https://diariodistrito.sapo.pt/montijo-semana-verde-faz-homenagem-ao-sobreiro/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SAPO — oliveira at Pateo d'Agua, alfarrobeira distribution (2026) + CM Montijo Sitio das Nascentes corridor</a:t>
            </a:r>
          </a:p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https://sapo.pt/artigo/montijo-planta-uma-oliveira-com-peso-simbolico-69be7ad0fed9c03ea1aaa68d</a:t>
            </a:r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Images: Wikimedia Commons, openly licensed (see per-slide credits).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753</Words>
  <Application>Microsoft Office PowerPoint</Application>
  <PresentationFormat>Ecrã Panorâmico</PresentationFormat>
  <Paragraphs>96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Diogo Morais</cp:lastModifiedBy>
  <cp:revision>1</cp:revision>
  <dcterms:created xsi:type="dcterms:W3CDTF">2013-01-27T09:14:16Z</dcterms:created>
  <dcterms:modified xsi:type="dcterms:W3CDTF">2026-10-01T16:18:18Z</dcterms:modified>
  <cp:category/>
</cp:coreProperties>
</file>